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both projects. Replace [Your name], App #1 name, and the App #1 URL before presenting. AuditTrail AI is the second application; its public demo is served from an AWS Fargate task over HTTP.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App #2 counts come from its four seeded invoices: two High rate violations, one Medium duplicate, and one Low clean invoice. No measured business savings or real invoice volume are available; do not present the metrics as production outcomes. App #1 fields require your source material.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 the bracketed audience, task, pain, and impact from App #1 discovery. Add one real evidence point such as a quote, observation, or baseline metric. The assignment specifies an AI use case but provides no App #1 domain details in the available project materials.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real data source, AI capability, human review step, and success measure. Make clear where automation stops. Keep this diagram as an editable template until App #1 evidence is supplied.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requested architecture diagram. Replace each bracket with App #1 implementation facts. Use the notes to explain at least one tradeoff rather than naming technologies without rationale.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rubric explicitly requests a Claude Artifact prototype. Add the actual prompt, prototype image or URL, and one concrete iteration. No App #1 artifact is present in this workspace.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actual Workshop 2 migration: IDE, framework, files, setup commands, and first local result. The diagram is a placeholder, not a claim about App #1 implementation.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report the test plan and measured findings for App #1. Responsible AI is not a checkbox: state which risks were evaluated and the evidence. The source record for those tests was not supplied.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three example rows with actual bugs and reproduction steps. Add real pass/fail counts and environment. If there were no bugs, state the scope tested rather than inventing defects.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assignment specifies AWS App Runner for App #1, but account-level details and URL were not provided. Add exact service region, source mode, health check, and live link. The diagram is an architecture guide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paste a URL unless verified. Include one deployment challenge you actually encountered and how you resolved it. The App #1 URL and deployment facts need to be supplied.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brief identifies Workshop 4 as user feedback and improvements, but does not state what feedback was collected. Name the participants or source, the change made, and the post-change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current implementation uses deterministic rules rather than a generative AI model. This is intentional and testable for two explicit anomaly types. Be transparent about that distinction when presenting the product as AuditTrail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complete deployed topology. The React/Vite app is compiled into static assets and served by FastAPI in the container. The API holds records and review status in memory; there is no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screenshot captured from the live public app on October 5, 2026. Walk through the register, selected invoice, contract-rate comparison, explanation, and auditor actions. The app is a demonstration and contains seeded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status errors and CORS behavior were verified against the HTTP API. Six malformed ReviewRequest payloads were verified by Pydantic model validation. Explain that CORS is not authentication: the deployed service has no login and the demo endpoint is public HTTP.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CodeBuild run failed because the buildspec assumed CODEBUILD_ENV_FILE existed. The corrected buildspec was passed with a one-run file:// override and succeeded, pushing tag 67a00c21413e. The GitHub main branch was later pushed with the corrected buildspec; do not imply automatic deploy-on-push without webhook/pipeline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app was functionally tested by its developer, but no external user feedback was recorded in the available project. Do not claim Workshop 6 feedback happened unless you have evidence. Public demo must not be used for real invoice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prompt patterns reflect the documented App #2 work. The App #1 Claude Artifact prompt should be added when available. AI was used to draft and refine code, while runtime/API checks verified claims before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evidence supports App #2 lessons. Do not claim a comparison to App #1 until you add your actual first-project process. Invite the audience to compare prompt specificity, test discipline, and deployment planning across the two journeys.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ROI scenario is illustrative, not an achieved metric: 100 invoices per month, five minutes saved per invoice, and $45 hourly labor are assumptions. It represents $375 monthly labor capacity before infrastructure cost; validate all three inputs with users. App #1 value needs actual problem and outcome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the audience to celebrate the work. The checklist mirrors the requested capstone items. App #1 deployment and feedback, user-service evidence, and course completion are not available in the project materials, so confirm those before checking them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restating the capstone progression and the next steps. Read the App #2 limitation aloud so the demo is not mistaken for a production invoice system. Add the verified App #1 URL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36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EF7B"/>
          </a:solidFill>
          <a:ln w="12700">
            <a:solidFill>
              <a:srgbClr val="C9EF7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66760" y="-1143000"/>
            <a:ext cx="4800600" cy="4800600"/>
          </a:xfrm>
          <a:prstGeom prst="ellipse">
            <a:avLst/>
          </a:prstGeom>
          <a:solidFill>
            <a:srgbClr val="235C47">
              <a:alpha val="65000"/>
            </a:srgbClr>
          </a:solidFill>
          <a:ln w="12700">
            <a:solidFill>
              <a:srgbClr val="235C4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658368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315B49"/>
          </a:solidFill>
          <a:ln w="12700">
            <a:solidFill>
              <a:srgbClr val="315B49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681228"/>
            <a:ext cx="21854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9EF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CAPSTONE · WORKSHOPS 1–6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1371600"/>
            <a:ext cx="7772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applications,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10312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9EF7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evolving practice.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0175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6E2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journey from problem framing to a live AWS deployment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9808" y="3822192"/>
            <a:ext cx="3794760" cy="841248"/>
          </a:xfrm>
          <a:prstGeom prst="roundRect">
            <a:avLst>
              <a:gd name="adj" fmla="val 8696"/>
            </a:avLst>
          </a:prstGeom>
          <a:solidFill>
            <a:srgbClr val="214638"/>
          </a:solidFill>
          <a:ln w="10160">
            <a:solidFill>
              <a:srgbClr val="456A5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3950208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CD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01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932688" y="4224528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[App #1 name · Workshop 1–4]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36592" y="3822192"/>
            <a:ext cx="3794760" cy="841248"/>
          </a:xfrm>
          <a:prstGeom prst="roundRect">
            <a:avLst>
              <a:gd name="adj" fmla="val 8696"/>
            </a:avLst>
          </a:prstGeom>
          <a:solidFill>
            <a:srgbClr val="214638"/>
          </a:solidFill>
          <a:ln w="10160">
            <a:solidFill>
              <a:srgbClr val="456A5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19472" y="3950208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CD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02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4919472" y="4224528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AuditTrail AI · Workshops 5–6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" y="52303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[Your name]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68096" y="56967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B5C7B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01  [ADD VERIFIED LIVE URL]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4736592" y="569671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C9EF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02  http://54.82.56.190:8000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0625328" y="619048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A9BB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23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EF7B"/>
          </a:solidFill>
          <a:ln w="12700">
            <a:solidFill>
              <a:srgbClr val="C9EF7B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468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35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OVERVIEW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53035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836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problems, two applied solutions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104241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capstone arc: frame the problem, prototype, test, deploy, and learn from feedback.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6473952"/>
            <a:ext cx="11018520" cy="0"/>
          </a:xfrm>
          <a:prstGeom prst="line">
            <a:avLst/>
          </a:prstGeom>
          <a:noFill/>
          <a:ln w="10160">
            <a:solidFill>
              <a:srgbClr val="DFE5D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AUDITTRAIL AI  ·  CAPSTONE JOURNEY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1101852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35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21792" y="1572768"/>
            <a:ext cx="5321808" cy="2999232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9536" y="1783080"/>
            <a:ext cx="1508760" cy="246888"/>
          </a:xfrm>
          <a:prstGeom prst="roundRect">
            <a:avLst>
              <a:gd name="adj" fmla="val 29630"/>
            </a:avLst>
          </a:prstGeom>
          <a:solidFill>
            <a:srgbClr val="FFF0E8"/>
          </a:solidFill>
          <a:ln w="12700">
            <a:solidFill>
              <a:srgbClr val="FFF0E8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32688" y="1805940"/>
            <a:ext cx="13624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D87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01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877824" y="221284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83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[Problem statement]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96112" y="2930652"/>
            <a:ext cx="68580" cy="68580"/>
          </a:xfrm>
          <a:prstGeom prst="ellipse">
            <a:avLst/>
          </a:prstGeom>
          <a:solidFill>
            <a:srgbClr val="D8794C"/>
          </a:solidFill>
          <a:ln w="12700">
            <a:solidFill>
              <a:srgbClr val="D8794C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78992" y="2834640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6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experiences the problem? [Add audience]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96112" y="3387852"/>
            <a:ext cx="68580" cy="68580"/>
          </a:xfrm>
          <a:prstGeom prst="ellipse">
            <a:avLst/>
          </a:prstGeom>
          <a:solidFill>
            <a:srgbClr val="D8794C"/>
          </a:solidFill>
          <a:ln w="12700">
            <a:solidFill>
              <a:srgbClr val="D8794C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78992" y="3291840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6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makes it costly or frustrating? [Add evidence]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96112" y="3845052"/>
            <a:ext cx="68580" cy="68580"/>
          </a:xfrm>
          <a:prstGeom prst="ellipse">
            <a:avLst/>
          </a:prstGeom>
          <a:solidFill>
            <a:srgbClr val="D8794C"/>
          </a:solidFill>
          <a:ln w="12700">
            <a:solidFill>
              <a:srgbClr val="D8794C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78992" y="3749040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6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 solution: [Name the workflow]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337560" y="4160520"/>
            <a:ext cx="2103120" cy="246888"/>
          </a:xfrm>
          <a:prstGeom prst="roundRect">
            <a:avLst>
              <a:gd name="adj" fmla="val 29630"/>
            </a:avLst>
          </a:prstGeom>
          <a:solidFill>
            <a:srgbClr val="FFF0E8"/>
          </a:solidFill>
          <a:ln w="12700">
            <a:solidFill>
              <a:srgbClr val="FFF0E8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10712" y="4183380"/>
            <a:ext cx="19568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D87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#1 SOURCE NEEDED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236208" y="1572768"/>
            <a:ext cx="5321808" cy="2999232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73952" y="1783080"/>
            <a:ext cx="1508760" cy="246888"/>
          </a:xfrm>
          <a:prstGeom prst="roundRect">
            <a:avLst>
              <a:gd name="adj" fmla="val 29630"/>
            </a:avLst>
          </a:prstGeom>
          <a:solidFill>
            <a:srgbClr val="E8F0E5"/>
          </a:solidFill>
          <a:ln w="12700">
            <a:solidFill>
              <a:srgbClr val="E8F0E5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47104" y="1805940"/>
            <a:ext cx="13624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35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02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6473952" y="221284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3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Invoice fraud &amp; anomaly review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492240" y="2930652"/>
            <a:ext cx="68580" cy="68580"/>
          </a:xfrm>
          <a:prstGeom prst="ellipse">
            <a:avLst/>
          </a:prstGeom>
          <a:solidFill>
            <a:srgbClr val="235C47"/>
          </a:solidFill>
          <a:ln w="12700">
            <a:solidFill>
              <a:srgbClr val="235C47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75120" y="2834640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6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Problem: manual rate-cap and duplicate checks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92240" y="3387852"/>
            <a:ext cx="68580" cy="68580"/>
          </a:xfrm>
          <a:prstGeom prst="ellipse">
            <a:avLst/>
          </a:prstGeom>
          <a:solidFill>
            <a:srgbClr val="235C47"/>
          </a:solidFill>
          <a:ln w="12700">
            <a:solidFill>
              <a:srgbClr val="235C47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75120" y="3291840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6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Solution: deterministic invoice rules + auditor workflow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92240" y="3845052"/>
            <a:ext cx="68580" cy="68580"/>
          </a:xfrm>
          <a:prstGeom prst="ellipse">
            <a:avLst/>
          </a:prstGeom>
          <a:solidFill>
            <a:srgbClr val="235C47"/>
          </a:solidFill>
          <a:ln w="12700">
            <a:solidFill>
              <a:srgbClr val="235C47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75120" y="3749040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6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Audience: audit and accounts-payable teams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58368" y="4864608"/>
            <a:ext cx="25603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04672" y="4974336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35C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2500" dirty="0"/>
          </a:p>
        </p:txBody>
      </p:sp>
      <p:sp>
        <p:nvSpPr>
          <p:cNvPr id="33" name="Text 31"/>
          <p:cNvSpPr txBox="1"/>
          <p:nvPr/>
        </p:nvSpPr>
        <p:spPr>
          <a:xfrm>
            <a:off x="804672" y="5367528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seeded invoices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401568" y="4864608"/>
            <a:ext cx="25603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547872" y="4974336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D879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 / 4</a:t>
            </a:r>
            <a:endParaRPr lang="en-US" sz="2500" dirty="0"/>
          </a:p>
        </p:txBody>
      </p:sp>
      <p:sp>
        <p:nvSpPr>
          <p:cNvPr id="36" name="Text 34"/>
          <p:cNvSpPr txBox="1"/>
          <p:nvPr/>
        </p:nvSpPr>
        <p:spPr>
          <a:xfrm>
            <a:off x="3547872" y="5367528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invoices with anomalies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144768" y="4864608"/>
            <a:ext cx="25603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291072" y="4974336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5F959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 · 1 · 1</a:t>
            </a:r>
            <a:endParaRPr lang="en-US" sz="2500" dirty="0"/>
          </a:p>
        </p:txBody>
      </p:sp>
      <p:sp>
        <p:nvSpPr>
          <p:cNvPr id="39" name="Text 37"/>
          <p:cNvSpPr txBox="1"/>
          <p:nvPr/>
        </p:nvSpPr>
        <p:spPr>
          <a:xfrm>
            <a:off x="6291072" y="5367528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· Medium · Low risk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8887968" y="4864608"/>
            <a:ext cx="25603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034272" y="4974336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35C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$150/hr</a:t>
            </a:r>
            <a:endParaRPr lang="en-US" sz="2500" dirty="0"/>
          </a:p>
        </p:txBody>
      </p:sp>
      <p:sp>
        <p:nvSpPr>
          <p:cNvPr id="42" name="Text 40"/>
          <p:cNvSpPr txBox="1"/>
          <p:nvPr/>
        </p:nvSpPr>
        <p:spPr>
          <a:xfrm>
            <a:off x="9034272" y="5367528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 cap checked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EF7B"/>
          </a:solidFill>
          <a:ln w="12700">
            <a:solidFill>
              <a:srgbClr val="C9EF7B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468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35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APPLICATION 01 · WORKSHOP 1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53035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836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 with the user’s problem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104241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framing before solution design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6473952"/>
            <a:ext cx="11018520" cy="0"/>
          </a:xfrm>
          <a:prstGeom prst="line">
            <a:avLst/>
          </a:prstGeom>
          <a:noFill/>
          <a:ln w="10160">
            <a:solidFill>
              <a:srgbClr val="DFE5D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AUDITTRAIL AI  ·  CAPSTONE JOURNEY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1101852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35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641080" y="1572768"/>
            <a:ext cx="2606040" cy="246888"/>
          </a:xfrm>
          <a:prstGeom prst="roundRect">
            <a:avLst>
              <a:gd name="adj" fmla="val 29630"/>
            </a:avLst>
          </a:prstGeom>
          <a:solidFill>
            <a:srgbClr val="FFF0E8"/>
          </a:solidFill>
          <a:ln w="12700">
            <a:solidFill>
              <a:srgbClr val="FFF0E8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714232" y="1595628"/>
            <a:ext cx="2459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D87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#1 SOURCE NEEDED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658368" y="1645920"/>
            <a:ext cx="653796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50976" y="193852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87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STATEMENT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950976" y="2395728"/>
            <a:ext cx="5715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836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[When user group] needs to [complete task], they currently [pain point], which leads to [measurable impact].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950976" y="409651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35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to include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69264" y="4503420"/>
            <a:ext cx="68580" cy="68580"/>
          </a:xfrm>
          <a:prstGeom prst="ellipse">
            <a:avLst/>
          </a:prstGeom>
          <a:solidFill>
            <a:srgbClr val="D8794C"/>
          </a:solidFill>
          <a:ln w="12700">
            <a:solidFill>
              <a:srgbClr val="D8794C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52144" y="44074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6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Interview or observation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69264" y="4796028"/>
            <a:ext cx="68580" cy="68580"/>
          </a:xfrm>
          <a:prstGeom prst="ellipse">
            <a:avLst/>
          </a:prstGeom>
          <a:solidFill>
            <a:srgbClr val="D8794C"/>
          </a:solidFill>
          <a:ln w="12700">
            <a:solidFill>
              <a:srgbClr val="D8794C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52144" y="47000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6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Frequency / time / cost baseline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69264" y="5088636"/>
            <a:ext cx="68580" cy="68580"/>
          </a:xfrm>
          <a:prstGeom prst="ellipse">
            <a:avLst/>
          </a:prstGeom>
          <a:solidFill>
            <a:srgbClr val="D8794C"/>
          </a:solidFill>
          <a:ln w="12700">
            <a:solidFill>
              <a:srgbClr val="D8794C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152144" y="499262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6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workaround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498080" y="1645920"/>
            <a:ext cx="3977640" cy="3611880"/>
          </a:xfrm>
          <a:prstGeom prst="roundRect">
            <a:avLst>
              <a:gd name="adj" fmla="val 2025"/>
            </a:avLst>
          </a:prstGeom>
          <a:solidFill>
            <a:srgbClr val="FFF0E8"/>
          </a:solidFill>
          <a:ln w="10160">
            <a:solidFill>
              <a:srgbClr val="F0D6C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90688" y="19659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87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WORKSHOP 1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7790688" y="233172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83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“why” behind the build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7790688" y="3246120"/>
            <a:ext cx="3246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6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use case: [Explain what AI does, what stays human-led, and why AI is appropriate.]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790688" y="461772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87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substitute a feature list for user evidence.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EF7B"/>
          </a:solidFill>
          <a:ln w="12700">
            <a:solidFill>
              <a:srgbClr val="C9EF7B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468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35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APPLICATION 01 · WORKSHOP 1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53035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836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Turn the problem into an AI hypothesis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104241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the model’s job, human decision point, and success criteria.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6473952"/>
            <a:ext cx="11018520" cy="0"/>
          </a:xfrm>
          <a:prstGeom prst="line">
            <a:avLst/>
          </a:prstGeom>
          <a:noFill/>
          <a:ln w="10160">
            <a:solidFill>
              <a:srgbClr val="DFE5D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AUDITTRAIL AI  ·  CAPSTONE JOURNEY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1101852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35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641080" y="1572768"/>
            <a:ext cx="2606040" cy="246888"/>
          </a:xfrm>
          <a:prstGeom prst="roundRect">
            <a:avLst>
              <a:gd name="adj" fmla="val 29630"/>
            </a:avLst>
          </a:prstGeom>
          <a:solidFill>
            <a:srgbClr val="FFF0E8"/>
          </a:solidFill>
          <a:ln w="12700">
            <a:solidFill>
              <a:srgbClr val="FFF0E8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714232" y="1595628"/>
            <a:ext cx="2459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D87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#1 SOURCE NEEDED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713232" y="2011680"/>
            <a:ext cx="2971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2011680"/>
            <a:ext cx="64008" cy="1325880"/>
          </a:xfrm>
          <a:prstGeom prst="rect">
            <a:avLst/>
          </a:prstGeom>
          <a:solidFill>
            <a:srgbClr val="235C47"/>
          </a:solidFill>
          <a:ln w="12700">
            <a:solidFill>
              <a:srgbClr val="235C47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77824" y="2121408"/>
            <a:ext cx="2679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83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77824" y="2459736"/>
            <a:ext cx="267004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[User data / task / context]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24528" y="2011680"/>
            <a:ext cx="2971800" cy="132588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24528" y="2011680"/>
            <a:ext cx="64008" cy="1325880"/>
          </a:xfrm>
          <a:prstGeom prst="rect">
            <a:avLst/>
          </a:prstGeom>
          <a:solidFill>
            <a:srgbClr val="5F9590"/>
          </a:solidFill>
          <a:ln w="12700">
            <a:solidFill>
              <a:srgbClr val="5F9590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89120" y="2121408"/>
            <a:ext cx="2679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83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ASSIST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389120" y="2459736"/>
            <a:ext cx="267004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[Classification, generation, search, or recommendation]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735824" y="2011680"/>
            <a:ext cx="2971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35824" y="2011680"/>
            <a:ext cx="64008" cy="1325880"/>
          </a:xfrm>
          <a:prstGeom prst="rect">
            <a:avLst/>
          </a:prstGeom>
          <a:solidFill>
            <a:srgbClr val="235C47"/>
          </a:solidFill>
          <a:ln w="12700">
            <a:solidFill>
              <a:srgbClr val="235C47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900416" y="2121408"/>
            <a:ext cx="2679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83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OUTCOME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900416" y="2459736"/>
            <a:ext cx="267004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[Decision or action the user can take]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767328" y="2651760"/>
            <a:ext cx="329184" cy="0"/>
          </a:xfrm>
          <a:prstGeom prst="line">
            <a:avLst/>
          </a:prstGeom>
          <a:noFill/>
          <a:ln w="20320">
            <a:solidFill>
              <a:srgbClr val="5F959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278624" y="2651760"/>
            <a:ext cx="329184" cy="0"/>
          </a:xfrm>
          <a:prstGeom prst="line">
            <a:avLst/>
          </a:prstGeom>
          <a:noFill/>
          <a:ln w="20320">
            <a:solidFill>
              <a:srgbClr val="5F959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31520" y="3913632"/>
            <a:ext cx="10515600" cy="1207008"/>
          </a:xfrm>
          <a:prstGeom prst="roundRect">
            <a:avLst>
              <a:gd name="adj" fmla="val 6061"/>
            </a:avLst>
          </a:prstGeom>
          <a:solidFill>
            <a:srgbClr val="18362C"/>
          </a:solidFill>
          <a:ln w="10160">
            <a:solidFill>
              <a:srgbClr val="18362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24128" y="41513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9EF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MEASURE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2880360" y="4078224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[e.g., time saved, task accuracy, adoption, or error reduction]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024128" y="464515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EDD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Responsible use: [privacy boundary] · [known failure mode] · [human review]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EF7B"/>
          </a:solidFill>
          <a:ln w="12700">
            <a:solidFill>
              <a:srgbClr val="C9EF7B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468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35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APPLICATION 01 · TECHNICAL SOLUTION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53035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836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decisions for App #1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104241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each technology placeholder with the stack actually used.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6473952"/>
            <a:ext cx="11018520" cy="0"/>
          </a:xfrm>
          <a:prstGeom prst="line">
            <a:avLst/>
          </a:prstGeom>
          <a:noFill/>
          <a:ln w="10160">
            <a:solidFill>
              <a:srgbClr val="DFE5D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AUDITTRAIL AI  ·  CAPSTONE JOURNEY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1101852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35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641080" y="1572768"/>
            <a:ext cx="2606040" cy="246888"/>
          </a:xfrm>
          <a:prstGeom prst="roundRect">
            <a:avLst>
              <a:gd name="adj" fmla="val 29630"/>
            </a:avLst>
          </a:prstGeom>
          <a:solidFill>
            <a:srgbClr val="FFF0E8"/>
          </a:solidFill>
          <a:ln w="12700">
            <a:solidFill>
              <a:srgbClr val="FFF0E8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714232" y="1595628"/>
            <a:ext cx="2459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D87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#1 SOURCE NEEDED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640080" y="22402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240280"/>
            <a:ext cx="64008" cy="1417320"/>
          </a:xfrm>
          <a:prstGeom prst="rect">
            <a:avLst/>
          </a:prstGeom>
          <a:solidFill>
            <a:srgbClr val="235C47"/>
          </a:solidFill>
          <a:ln w="12700">
            <a:solidFill>
              <a:srgbClr val="235C47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" y="2350008"/>
            <a:ext cx="2221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83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EXPERIENCE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2688336"/>
            <a:ext cx="221284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[Claude Artifact / frontend framework]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0" y="22402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0" y="2240280"/>
            <a:ext cx="64008" cy="1417320"/>
          </a:xfrm>
          <a:prstGeom prst="rect">
            <a:avLst/>
          </a:prstGeom>
          <a:solidFill>
            <a:srgbClr val="5F9590"/>
          </a:solidFill>
          <a:ln w="12700">
            <a:solidFill>
              <a:srgbClr val="5F9590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822192" y="2350008"/>
            <a:ext cx="2221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83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LAYER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822192" y="2688336"/>
            <a:ext cx="221284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[API / orchestration / validation]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75120" y="22402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EAF3F1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75120" y="2240280"/>
            <a:ext cx="64008" cy="1417320"/>
          </a:xfrm>
          <a:prstGeom prst="rect">
            <a:avLst/>
          </a:prstGeom>
          <a:solidFill>
            <a:srgbClr val="5F9590"/>
          </a:solidFill>
          <a:ln w="12700">
            <a:solidFill>
              <a:srgbClr val="5F9590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39712" y="2350008"/>
            <a:ext cx="2221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83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CAPABILITY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839712" y="2688336"/>
            <a:ext cx="221284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[Model / API / retrieval choice]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464040" y="224028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64040" y="2240280"/>
            <a:ext cx="64008" cy="1417320"/>
          </a:xfrm>
          <a:prstGeom prst="rect">
            <a:avLst/>
          </a:prstGeom>
          <a:solidFill>
            <a:srgbClr val="D8794C"/>
          </a:solidFill>
          <a:ln w="12700">
            <a:solidFill>
              <a:srgbClr val="D8794C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28632" y="2350008"/>
            <a:ext cx="1764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83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9628632" y="2688336"/>
            <a:ext cx="175564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[Storage / integrations]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182112" y="2944368"/>
            <a:ext cx="365760" cy="0"/>
          </a:xfrm>
          <a:prstGeom prst="line">
            <a:avLst/>
          </a:prstGeom>
          <a:noFill/>
          <a:ln w="20320">
            <a:solidFill>
              <a:srgbClr val="5F959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199632" y="2944368"/>
            <a:ext cx="365760" cy="0"/>
          </a:xfrm>
          <a:prstGeom prst="line">
            <a:avLst/>
          </a:prstGeom>
          <a:noFill/>
          <a:ln w="20320">
            <a:solidFill>
              <a:srgbClr val="5F959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144000" y="2944368"/>
            <a:ext cx="210312" cy="0"/>
          </a:xfrm>
          <a:prstGeom prst="line">
            <a:avLst/>
          </a:prstGeom>
          <a:noFill/>
          <a:ln w="20320">
            <a:solidFill>
              <a:srgbClr val="5F959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14400" y="4251960"/>
            <a:ext cx="10287000" cy="987552"/>
          </a:xfrm>
          <a:prstGeom prst="roundRect">
            <a:avLst>
              <a:gd name="adj" fmla="val 7407"/>
            </a:avLst>
          </a:prstGeom>
          <a:solidFill>
            <a:srgbClr val="FFF6DF"/>
          </a:solidFill>
          <a:ln w="10160">
            <a:solidFill>
              <a:srgbClr val="EFE0B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170432" y="446227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A67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LOG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2761488" y="4389120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6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[Why this stack? What constraint shaped deployment, cost, latency, privacy, or maintainability?]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EF7B"/>
          </a:solidFill>
          <a:ln w="12700">
            <a:solidFill>
              <a:srgbClr val="C9EF7B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468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35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· APPLICATION 01 · PHASE 3 · WORKSHOP 1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53035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836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Prototype the experience with Claude Artifacts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104241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the transition from prompt to a testable interaction.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6473952"/>
            <a:ext cx="11018520" cy="0"/>
          </a:xfrm>
          <a:prstGeom prst="line">
            <a:avLst/>
          </a:prstGeom>
          <a:noFill/>
          <a:ln w="10160">
            <a:solidFill>
              <a:srgbClr val="DFE5D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AUDITTRAIL AI  ·  CAPSTONE JOURNEY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1101852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35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641080" y="1572768"/>
            <a:ext cx="2606040" cy="246888"/>
          </a:xfrm>
          <a:prstGeom prst="roundRect">
            <a:avLst>
              <a:gd name="adj" fmla="val 29630"/>
            </a:avLst>
          </a:prstGeom>
          <a:solidFill>
            <a:srgbClr val="FFF0E8"/>
          </a:solidFill>
          <a:ln w="12700">
            <a:solidFill>
              <a:srgbClr val="FFF0E8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714232" y="1595628"/>
            <a:ext cx="2459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D87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#1 SOURCE NEEDED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749808" y="1828800"/>
            <a:ext cx="3218688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208483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87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PROMPT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542032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6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[Paste the prompt that set the user, task, constraints, and success criterion.]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453128" y="1828800"/>
            <a:ext cx="3218688" cy="2423160"/>
          </a:xfrm>
          <a:prstGeom prst="roundRect">
            <a:avLst>
              <a:gd name="adj" fmla="val 3019"/>
            </a:avLst>
          </a:prstGeom>
          <a:solidFill>
            <a:srgbClr val="18362C"/>
          </a:solidFill>
          <a:ln w="10160">
            <a:solidFill>
              <a:srgbClr val="18362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63440" y="208483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9EF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ARTIFACT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2542032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[Add a screenshot or describe the key screen and interaction.]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56448" y="1828800"/>
            <a:ext cx="3218688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66760" y="208483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87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ITERATION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2542032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6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[What changed after testing or critique?]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470916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35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 URL or screenshot: [ADD SOURCE]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1937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needed before submission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EF7B"/>
          </a:solidFill>
          <a:ln w="12700">
            <a:solidFill>
              <a:srgbClr val="C9EF7B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468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35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· APPLICATION 01 · PHASE 3 · WORKSHOP 2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53035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836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Move from prototype to local development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104241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the IDE migration and the first working local run.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6473952"/>
            <a:ext cx="11018520" cy="0"/>
          </a:xfrm>
          <a:prstGeom prst="line">
            <a:avLst/>
          </a:prstGeom>
          <a:noFill/>
          <a:ln w="10160">
            <a:solidFill>
              <a:srgbClr val="DFE5D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AUDITTRAIL AI  ·  CAPSTONE JOURNEY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1101852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35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641080" y="1572768"/>
            <a:ext cx="2606040" cy="246888"/>
          </a:xfrm>
          <a:prstGeom prst="roundRect">
            <a:avLst>
              <a:gd name="adj" fmla="val 29630"/>
            </a:avLst>
          </a:prstGeom>
          <a:solidFill>
            <a:srgbClr val="FFF0E8"/>
          </a:solidFill>
          <a:ln w="12700">
            <a:solidFill>
              <a:srgbClr val="FFF0E8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714232" y="1595628"/>
            <a:ext cx="2459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D87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#1 SOURCE NEEDED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731520" y="1691640"/>
            <a:ext cx="5074920" cy="3529584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19659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87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DEVELOPMENT TRANSITION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024128" y="2583180"/>
            <a:ext cx="68580" cy="68580"/>
          </a:xfrm>
          <a:prstGeom prst="ellipse">
            <a:avLst/>
          </a:prstGeom>
          <a:solidFill>
            <a:srgbClr val="D8794C"/>
          </a:solidFill>
          <a:ln w="12700">
            <a:solidFill>
              <a:srgbClr val="D8794C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07008" y="2487168"/>
            <a:ext cx="4206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6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scaffold: [framework / command]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24128" y="3140964"/>
            <a:ext cx="68580" cy="68580"/>
          </a:xfrm>
          <a:prstGeom prst="ellipse">
            <a:avLst/>
          </a:prstGeom>
          <a:solidFill>
            <a:srgbClr val="D8794C"/>
          </a:solidFill>
          <a:ln w="12700">
            <a:solidFill>
              <a:srgbClr val="D8794C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207008" y="3044952"/>
            <a:ext cx="4206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6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pieces reused: [list]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24128" y="3698748"/>
            <a:ext cx="68580" cy="68580"/>
          </a:xfrm>
          <a:prstGeom prst="ellipse">
            <a:avLst/>
          </a:prstGeom>
          <a:solidFill>
            <a:srgbClr val="D8794C"/>
          </a:solidFill>
          <a:ln w="12700">
            <a:solidFill>
              <a:srgbClr val="D8794C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207008" y="3602736"/>
            <a:ext cx="4206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6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modules and API boundaries: [list]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24128" y="4256532"/>
            <a:ext cx="68580" cy="68580"/>
          </a:xfrm>
          <a:prstGeom prst="ellipse">
            <a:avLst/>
          </a:prstGeom>
          <a:solidFill>
            <a:srgbClr val="D8794C"/>
          </a:solidFill>
          <a:ln w="12700">
            <a:solidFill>
              <a:srgbClr val="D8794C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207008" y="4160520"/>
            <a:ext cx="4206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6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run + first verification: [command / result]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72200" y="1691640"/>
            <a:ext cx="5285232" cy="3529584"/>
          </a:xfrm>
          <a:prstGeom prst="roundRect">
            <a:avLst>
              <a:gd name="adj" fmla="val 2073"/>
            </a:avLst>
          </a:prstGeom>
          <a:solidFill>
            <a:srgbClr val="E8F0E5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46520" y="19659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35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SYSTEM MAP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510528" y="2542032"/>
            <a:ext cx="193852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10528" y="2542032"/>
            <a:ext cx="64008" cy="1051560"/>
          </a:xfrm>
          <a:prstGeom prst="rect">
            <a:avLst/>
          </a:prstGeom>
          <a:solidFill>
            <a:srgbClr val="235C47"/>
          </a:solidFill>
          <a:ln w="12700">
            <a:solidFill>
              <a:srgbClr val="235C47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75120" y="26517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83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675120" y="2990088"/>
            <a:ext cx="16367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[code + terminal]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162288" y="2542032"/>
            <a:ext cx="193852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62288" y="2542032"/>
            <a:ext cx="64008" cy="1051560"/>
          </a:xfrm>
          <a:prstGeom prst="rect">
            <a:avLst/>
          </a:prstGeom>
          <a:solidFill>
            <a:srgbClr val="5F9590"/>
          </a:solidFill>
          <a:ln w="12700">
            <a:solidFill>
              <a:srgbClr val="5F9590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326880" y="26517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83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APP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9326880" y="2990088"/>
            <a:ext cx="16367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[browser + API]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485632" y="3063240"/>
            <a:ext cx="566928" cy="0"/>
          </a:xfrm>
          <a:prstGeom prst="line">
            <a:avLst/>
          </a:prstGeom>
          <a:noFill/>
          <a:ln w="20320">
            <a:solidFill>
              <a:srgbClr val="5F9590"/>
            </a:solidFill>
            <a:prstDash val="solid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6510528" y="40690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Screenshot: [replace with local App #1 view]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EF7B"/>
          </a:solidFill>
          <a:ln w="12700">
            <a:solidFill>
              <a:srgbClr val="C9EF7B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468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35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· APPLICATION 01 · PHASE 4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53035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836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Evaluate quality, safety, and usefulness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104241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what was tested from what still needs evaluation.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6473952"/>
            <a:ext cx="11018520" cy="0"/>
          </a:xfrm>
          <a:prstGeom prst="line">
            <a:avLst/>
          </a:prstGeom>
          <a:noFill/>
          <a:ln w="10160">
            <a:solidFill>
              <a:srgbClr val="DFE5D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AUDITTRAIL AI  ·  CAPSTONE JOURNEY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1101852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35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641080" y="1572768"/>
            <a:ext cx="2606040" cy="246888"/>
          </a:xfrm>
          <a:prstGeom prst="roundRect">
            <a:avLst>
              <a:gd name="adj" fmla="val 29630"/>
            </a:avLst>
          </a:prstGeom>
          <a:solidFill>
            <a:srgbClr val="FFF0E8"/>
          </a:solidFill>
          <a:ln w="12700">
            <a:solidFill>
              <a:srgbClr val="FFF0E8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714232" y="1595628"/>
            <a:ext cx="2459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D87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#1 SOURCE NEEDED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713232" y="1874520"/>
            <a:ext cx="3419856" cy="2468880"/>
          </a:xfrm>
          <a:prstGeom prst="roundRect">
            <a:avLst>
              <a:gd name="adj" fmla="val 2963"/>
            </a:avLst>
          </a:prstGeom>
          <a:solidFill>
            <a:srgbClr val="E8F0E5"/>
          </a:solidFill>
          <a:ln w="10160">
            <a:solidFill>
              <a:srgbClr val="E8F0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21396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35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FUNCTIONAL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2633472"/>
            <a:ext cx="2852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83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[Core user journey tests]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386791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[tests / observations]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35424" y="1874520"/>
            <a:ext cx="3419856" cy="2468880"/>
          </a:xfrm>
          <a:prstGeom prst="roundRect">
            <a:avLst>
              <a:gd name="adj" fmla="val 2963"/>
            </a:avLst>
          </a:prstGeom>
          <a:solidFill>
            <a:srgbClr val="EAF3F1"/>
          </a:solidFill>
          <a:ln w="10160">
            <a:solidFill>
              <a:srgbClr val="EAF3F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36592" y="21396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F95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RESPONSIBLE AI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4736592" y="2633472"/>
            <a:ext cx="2852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83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[Bias, privacy, hallucination, human oversight]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736592" y="386791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[tests / observations]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357616" y="1874520"/>
            <a:ext cx="3419856" cy="2468880"/>
          </a:xfrm>
          <a:prstGeom prst="roundRect">
            <a:avLst>
              <a:gd name="adj" fmla="val 2963"/>
            </a:avLst>
          </a:prstGeom>
          <a:solidFill>
            <a:srgbClr val="FFF0E8"/>
          </a:solidFill>
          <a:ln w="10160">
            <a:solidFill>
              <a:srgbClr val="FFF0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58784" y="21396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35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8558784" y="2633472"/>
            <a:ext cx="2852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83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[Input validation, secrets, access control]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558784" y="386791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[tests / observations]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49808" y="4736592"/>
            <a:ext cx="10561320" cy="676656"/>
          </a:xfrm>
          <a:prstGeom prst="roundRect">
            <a:avLst>
              <a:gd name="adj" fmla="val 10811"/>
            </a:avLst>
          </a:prstGeom>
          <a:solidFill>
            <a:srgbClr val="18362C"/>
          </a:solidFill>
          <a:ln w="10160">
            <a:solidFill>
              <a:srgbClr val="18362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24128" y="4937760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only outcomes that were actually tested. Mark the remaining checks as planned.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EF7B"/>
          </a:solidFill>
          <a:ln w="12700">
            <a:solidFill>
              <a:srgbClr val="C9EF7B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468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35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· APPLICATION 01 · PHASE 4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53035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836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failed, what changed, what passed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104241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useful test report connects each fix to a reproducible result.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6473952"/>
            <a:ext cx="11018520" cy="0"/>
          </a:xfrm>
          <a:prstGeom prst="line">
            <a:avLst/>
          </a:prstGeom>
          <a:noFill/>
          <a:ln w="10160">
            <a:solidFill>
              <a:srgbClr val="DFE5D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AUDITTRAIL AI  ·  CAPSTONE JOURNEY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1101852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35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641080" y="1572768"/>
            <a:ext cx="2606040" cy="246888"/>
          </a:xfrm>
          <a:prstGeom prst="roundRect">
            <a:avLst>
              <a:gd name="adj" fmla="val 29630"/>
            </a:avLst>
          </a:prstGeom>
          <a:solidFill>
            <a:srgbClr val="FFF0E8"/>
          </a:solidFill>
          <a:ln w="12700">
            <a:solidFill>
              <a:srgbClr val="FFF0E8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714232" y="1595628"/>
            <a:ext cx="2459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D87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#1 SOURCE NEEDED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786384" y="182880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/ RISK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182880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REPRODUCTION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6144768" y="182880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0" y="182880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13232" y="2212848"/>
            <a:ext cx="10744200" cy="621792"/>
          </a:xfrm>
          <a:prstGeom prst="rect">
            <a:avLst>
              <a:gd name="adj" fmla="val 11765"/>
            </a:avLst>
          </a:prstGeom>
          <a:solidFill>
            <a:srgbClr val="EFF2EB"/>
          </a:solidFill>
          <a:ln w="10160">
            <a:solidFill>
              <a:srgbClr val="EFF2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6384" y="238658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6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[Issue]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611880" y="238658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6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[Steps]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144768" y="238658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6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[Change]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686800" y="23865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6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[Pass / fail]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" y="3054096"/>
            <a:ext cx="10744200" cy="621792"/>
          </a:xfrm>
          <a:prstGeom prst="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6384" y="322783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6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[Issue]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3611880" y="322783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6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[Steps]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144768" y="322783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6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[Change]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686800" y="322783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6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[Pass / fail]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13232" y="3895344"/>
            <a:ext cx="10744200" cy="621792"/>
          </a:xfrm>
          <a:prstGeom prst="rect">
            <a:avLst>
              <a:gd name="adj" fmla="val 11765"/>
            </a:avLst>
          </a:prstGeom>
          <a:solidFill>
            <a:srgbClr val="EFF2EB"/>
          </a:solidFill>
          <a:ln w="10160">
            <a:solidFill>
              <a:srgbClr val="EFF2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86384" y="406908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6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[Issue]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3611880" y="406908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6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[Steps]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144768" y="406908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6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[Change]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8686800" y="406908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6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[Pass / fail]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804672" y="502920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35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 summary: [n passed] / [n run] · Environment: [browser / device / version]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EF7B"/>
          </a:solidFill>
          <a:ln w="12700">
            <a:solidFill>
              <a:srgbClr val="C9EF7B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468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35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· APPLICATION 01 · PHASE 5 · WORKSHOP 3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53035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836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Deploy App #1 with AWS App Runner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104241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the actual source, build path, runtime, and public endpoint.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6473952"/>
            <a:ext cx="11018520" cy="0"/>
          </a:xfrm>
          <a:prstGeom prst="line">
            <a:avLst/>
          </a:prstGeom>
          <a:noFill/>
          <a:ln w="10160">
            <a:solidFill>
              <a:srgbClr val="DFE5D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AUDITTRAIL AI  ·  CAPSTONE JOURNEY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1101852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35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641080" y="1572768"/>
            <a:ext cx="2606040" cy="246888"/>
          </a:xfrm>
          <a:prstGeom prst="roundRect">
            <a:avLst>
              <a:gd name="adj" fmla="val 29630"/>
            </a:avLst>
          </a:prstGeom>
          <a:solidFill>
            <a:srgbClr val="FFF0E8"/>
          </a:solidFill>
          <a:ln w="12700">
            <a:solidFill>
              <a:srgbClr val="FFF0E8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714232" y="1595628"/>
            <a:ext cx="2459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D87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#1 SOURCE NEEDED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822960" y="2148840"/>
            <a:ext cx="22402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2148840"/>
            <a:ext cx="64008" cy="1188720"/>
          </a:xfrm>
          <a:prstGeom prst="rect">
            <a:avLst/>
          </a:prstGeom>
          <a:solidFill>
            <a:srgbClr val="235C47"/>
          </a:solidFill>
          <a:ln w="12700">
            <a:solidFill>
              <a:srgbClr val="235C47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87552" y="2258568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83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987552" y="2596896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[GitHub / image source]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03320" y="2148840"/>
            <a:ext cx="2240280" cy="118872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03320" y="2148840"/>
            <a:ext cx="64008" cy="1188720"/>
          </a:xfrm>
          <a:prstGeom prst="rect">
            <a:avLst/>
          </a:prstGeom>
          <a:solidFill>
            <a:srgbClr val="5F9590"/>
          </a:solidFill>
          <a:ln w="12700">
            <a:solidFill>
              <a:srgbClr val="5F9590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867912" y="2258568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83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RUNNER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867912" y="2596896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[build + managed runtime]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583680" y="2148840"/>
            <a:ext cx="22402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2148840"/>
            <a:ext cx="64008" cy="1188720"/>
          </a:xfrm>
          <a:prstGeom prst="rect">
            <a:avLst/>
          </a:prstGeom>
          <a:solidFill>
            <a:srgbClr val="D8794C"/>
          </a:solidFill>
          <a:ln w="12700">
            <a:solidFill>
              <a:srgbClr val="D8794C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48272" y="2258568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83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748272" y="2596896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[container / route / health]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464040" y="21488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64040" y="2148840"/>
            <a:ext cx="64008" cy="1188720"/>
          </a:xfrm>
          <a:prstGeom prst="rect">
            <a:avLst/>
          </a:prstGeom>
          <a:solidFill>
            <a:srgbClr val="235C47"/>
          </a:solidFill>
          <a:ln w="12700">
            <a:solidFill>
              <a:srgbClr val="235C47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28632" y="2258568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83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9628632" y="2596896"/>
            <a:ext cx="1618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[live link]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108960" y="2743200"/>
            <a:ext cx="502920" cy="0"/>
          </a:xfrm>
          <a:prstGeom prst="line">
            <a:avLst/>
          </a:prstGeom>
          <a:noFill/>
          <a:ln w="20320">
            <a:solidFill>
              <a:srgbClr val="5F959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989320" y="2743200"/>
            <a:ext cx="502920" cy="0"/>
          </a:xfrm>
          <a:prstGeom prst="line">
            <a:avLst/>
          </a:prstGeom>
          <a:noFill/>
          <a:ln w="20320">
            <a:solidFill>
              <a:srgbClr val="5F959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869680" y="2743200"/>
            <a:ext cx="502920" cy="0"/>
          </a:xfrm>
          <a:prstGeom prst="line">
            <a:avLst/>
          </a:prstGeom>
          <a:noFill/>
          <a:ln w="20320">
            <a:solidFill>
              <a:srgbClr val="5F959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68680" y="4005072"/>
            <a:ext cx="10378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133856" y="42245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87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RECORD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2926080" y="4160520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6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 [ ] · Service [ ] · Build source [ ] · Health check [ ] · Runtime size [ ]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EF7B"/>
          </a:solidFill>
          <a:ln w="12700">
            <a:solidFill>
              <a:srgbClr val="C9EF7B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468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35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· APPLICATION 01 · PHASE 5 · WORKSHOP 3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53035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836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Deployment is a system, not a button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104241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one real challenge and the evidence that the service worked.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6473952"/>
            <a:ext cx="11018520" cy="0"/>
          </a:xfrm>
          <a:prstGeom prst="line">
            <a:avLst/>
          </a:prstGeom>
          <a:noFill/>
          <a:ln w="10160">
            <a:solidFill>
              <a:srgbClr val="DFE5D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AUDITTRAIL AI  ·  CAPSTONE JOURNEY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1101852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35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641080" y="1572768"/>
            <a:ext cx="2606040" cy="246888"/>
          </a:xfrm>
          <a:prstGeom prst="roundRect">
            <a:avLst>
              <a:gd name="adj" fmla="val 29630"/>
            </a:avLst>
          </a:prstGeom>
          <a:solidFill>
            <a:srgbClr val="FFF0E8"/>
          </a:solidFill>
          <a:ln w="12700">
            <a:solidFill>
              <a:srgbClr val="FFF0E8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714232" y="1595628"/>
            <a:ext cx="2459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D87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#1 SOURCE NEEDED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749808" y="1755648"/>
            <a:ext cx="4983480" cy="3337560"/>
          </a:xfrm>
          <a:prstGeom prst="roundRect">
            <a:avLst>
              <a:gd name="adj" fmla="val 2192"/>
            </a:avLst>
          </a:prstGeom>
          <a:solidFill>
            <a:srgbClr val="18362C"/>
          </a:solidFill>
          <a:ln w="10160">
            <a:solidFill>
              <a:srgbClr val="18362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51560" y="20756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9EF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CHALLENGE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487168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[Build, port, permission, dependency, or health-check issue]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977640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7E5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Fix: [what changed]  ·  Lesson: [what you will repeat]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08192" y="1755648"/>
            <a:ext cx="516636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0" y="20756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35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DEMO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254203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F95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[APP RUNNER URL]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19088" y="3342132"/>
            <a:ext cx="68580" cy="68580"/>
          </a:xfrm>
          <a:prstGeom prst="ellipse">
            <a:avLst/>
          </a:prstGeom>
          <a:solidFill>
            <a:srgbClr val="D8794C"/>
          </a:solidFill>
          <a:ln w="12700">
            <a:solidFill>
              <a:srgbClr val="D8794C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01968" y="3246120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6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Homepage returns 200: [verified]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19088" y="3817620"/>
            <a:ext cx="68580" cy="68580"/>
          </a:xfrm>
          <a:prstGeom prst="ellipse">
            <a:avLst/>
          </a:prstGeom>
          <a:solidFill>
            <a:srgbClr val="D8794C"/>
          </a:solidFill>
          <a:ln w="12700">
            <a:solidFill>
              <a:srgbClr val="D8794C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01968" y="3721608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6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/ workflow responds: [verified]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19088" y="4293108"/>
            <a:ext cx="68580" cy="68580"/>
          </a:xfrm>
          <a:prstGeom prst="ellipse">
            <a:avLst/>
          </a:prstGeom>
          <a:solidFill>
            <a:srgbClr val="D8794C"/>
          </a:solidFill>
          <a:ln w="12700">
            <a:solidFill>
              <a:srgbClr val="D8794C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01968" y="4197096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6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Logs and health status: [verified]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EF7B"/>
          </a:solidFill>
          <a:ln w="12700">
            <a:solidFill>
              <a:srgbClr val="C9EF7B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468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35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· APPLICATION 01 · PHASE 6 · WORKSHOP 4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53035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836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Close the loop with user feedback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104241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 should change a product decision, not just decorate a slide.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6473952"/>
            <a:ext cx="11018520" cy="0"/>
          </a:xfrm>
          <a:prstGeom prst="line">
            <a:avLst/>
          </a:prstGeom>
          <a:noFill/>
          <a:ln w="10160">
            <a:solidFill>
              <a:srgbClr val="DFE5D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AUDITTRAIL AI  ·  CAPSTONE JOURNEY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1101852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35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641080" y="1572768"/>
            <a:ext cx="2606040" cy="246888"/>
          </a:xfrm>
          <a:prstGeom prst="roundRect">
            <a:avLst>
              <a:gd name="adj" fmla="val 29630"/>
            </a:avLst>
          </a:prstGeom>
          <a:solidFill>
            <a:srgbClr val="FFF0E8"/>
          </a:solidFill>
          <a:ln w="12700">
            <a:solidFill>
              <a:srgbClr val="FFF0E8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714232" y="1595628"/>
            <a:ext cx="2459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D87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#1 SOURCE NEEDED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640080" y="1965960"/>
            <a:ext cx="248716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221284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35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HEARD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2670048"/>
            <a:ext cx="2039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3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[User feedback / observation]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182112" y="2743200"/>
            <a:ext cx="274320" cy="0"/>
          </a:xfrm>
          <a:prstGeom prst="line">
            <a:avLst/>
          </a:prstGeom>
          <a:noFill/>
          <a:ln w="20320">
            <a:solidFill>
              <a:srgbClr val="5F959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538728" y="1965960"/>
            <a:ext cx="248716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721608" y="221284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35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DECIDED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3721608" y="2670048"/>
            <a:ext cx="2039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3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[Prioritized change + rationale]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080760" y="2743200"/>
            <a:ext cx="274320" cy="0"/>
          </a:xfrm>
          <a:prstGeom prst="line">
            <a:avLst/>
          </a:prstGeom>
          <a:noFill/>
          <a:ln w="20320">
            <a:solidFill>
              <a:srgbClr val="5F959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437376" y="1965960"/>
            <a:ext cx="2487168" cy="1554480"/>
          </a:xfrm>
          <a:prstGeom prst="roundRect">
            <a:avLst>
              <a:gd name="adj" fmla="val 4706"/>
            </a:avLst>
          </a:prstGeom>
          <a:solidFill>
            <a:srgbClr val="E8F0E5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20256" y="221284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35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CHANGED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6620256" y="2670048"/>
            <a:ext cx="2039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3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[UI, prompt, logic, or workflow]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979408" y="2743200"/>
            <a:ext cx="274320" cy="0"/>
          </a:xfrm>
          <a:prstGeom prst="line">
            <a:avLst/>
          </a:prstGeom>
          <a:noFill/>
          <a:ln w="20320">
            <a:solidFill>
              <a:srgbClr val="5F959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336024" y="1965960"/>
            <a:ext cx="248716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518904" y="221284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35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· RECHECKED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9518904" y="2670048"/>
            <a:ext cx="2039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3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[New result / follow-up feedback]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49808" y="4087368"/>
            <a:ext cx="10469880" cy="841248"/>
          </a:xfrm>
          <a:prstGeom prst="roundRect">
            <a:avLst>
              <a:gd name="adj" fmla="val 8696"/>
            </a:avLst>
          </a:prstGeom>
          <a:solidFill>
            <a:srgbClr val="FFF0E8"/>
          </a:solidFill>
          <a:ln w="10160">
            <a:solidFill>
              <a:srgbClr val="F0D6C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24128" y="437083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83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 source: [who / how many]  ·  Implemented iteration: [change]  ·  Outcome: [evidence]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EF7B"/>
          </a:solidFill>
          <a:ln w="12700">
            <a:solidFill>
              <a:srgbClr val="C9EF7B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468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35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· APPLICATION 02 · WORKSHOP 5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53035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836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AuditTrail AI: make invoice risk visible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104241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auditor dashboard for deterministic invoice-fraud and anomaly checks.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6473952"/>
            <a:ext cx="11018520" cy="0"/>
          </a:xfrm>
          <a:prstGeom prst="line">
            <a:avLst/>
          </a:prstGeom>
          <a:noFill/>
          <a:ln w="10160">
            <a:solidFill>
              <a:srgbClr val="DFE5D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AUDITTRAIL AI  ·  CAPSTONE JOURNEY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1101852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35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13232" y="1691640"/>
            <a:ext cx="6400800" cy="3502152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19933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87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423160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83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Contract-rate violations and duplicate invoices can hide in routine review.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1024128" y="3753612"/>
            <a:ext cx="68580" cy="68580"/>
          </a:xfrm>
          <a:prstGeom prst="ellipse">
            <a:avLst/>
          </a:prstGeom>
          <a:solidFill>
            <a:srgbClr val="D8794C"/>
          </a:solidFill>
          <a:ln w="12700">
            <a:solidFill>
              <a:srgbClr val="D8794C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07008" y="3657600"/>
            <a:ext cx="52120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6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comparisons are repetitive.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24128" y="4146804"/>
            <a:ext cx="68580" cy="68580"/>
          </a:xfrm>
          <a:prstGeom prst="ellipse">
            <a:avLst/>
          </a:prstGeom>
          <a:solidFill>
            <a:srgbClr val="D8794C"/>
          </a:solidFill>
          <a:ln w="12700">
            <a:solidFill>
              <a:srgbClr val="D8794C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207008" y="4050792"/>
            <a:ext cx="52120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6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signals compete with routine line-item details.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24128" y="4539996"/>
            <a:ext cx="68580" cy="68580"/>
          </a:xfrm>
          <a:prstGeom prst="ellipse">
            <a:avLst/>
          </a:prstGeom>
          <a:solidFill>
            <a:srgbClr val="D8794C"/>
          </a:solidFill>
          <a:ln w="12700">
            <a:solidFill>
              <a:srgbClr val="D8794C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07008" y="4443984"/>
            <a:ext cx="52120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6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Auditors need explanations and final decision authority.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424928" y="1691640"/>
            <a:ext cx="4023360" cy="3502152"/>
          </a:xfrm>
          <a:prstGeom prst="roundRect">
            <a:avLst>
              <a:gd name="adj" fmla="val 2089"/>
            </a:avLst>
          </a:prstGeom>
          <a:solidFill>
            <a:srgbClr val="18362C"/>
          </a:solidFill>
          <a:ln w="10160">
            <a:solidFill>
              <a:srgbClr val="18362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54112" y="20299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9EF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 FIRST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7754112" y="2432304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AI-branded, rule-based decisions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7754112" y="3401568"/>
            <a:ext cx="31272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7E4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Rate &gt; $150/hr → High risk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7E4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Duplicate invoice number → Medium risk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7E4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auditor chooses the disposition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EF7B"/>
          </a:solidFill>
          <a:ln w="12700">
            <a:solidFill>
              <a:srgbClr val="C9EF7B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468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35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· APPLICATION 02 · TECHNICAL ARCHITECTURE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53035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836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container serves the dashboard and API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104241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 single-origin design keeps the demo deployment small.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6473952"/>
            <a:ext cx="11018520" cy="0"/>
          </a:xfrm>
          <a:prstGeom prst="line">
            <a:avLst/>
          </a:prstGeom>
          <a:noFill/>
          <a:ln w="10160">
            <a:solidFill>
              <a:srgbClr val="DFE5D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AUDITTRAIL AI  ·  CAPSTONE JOURNEY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1101852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35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58368" y="1874520"/>
            <a:ext cx="2267712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74520"/>
            <a:ext cx="64008" cy="1207008"/>
          </a:xfrm>
          <a:prstGeom prst="rect">
            <a:avLst/>
          </a:prstGeom>
          <a:solidFill>
            <a:srgbClr val="235C47"/>
          </a:solidFill>
          <a:ln w="12700">
            <a:solidFill>
              <a:srgbClr val="235C47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1984248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83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AUDITOR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322576"/>
            <a:ext cx="1965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· React dashboard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64992" y="1874520"/>
            <a:ext cx="2267712" cy="1207008"/>
          </a:xfrm>
          <a:prstGeom prst="roundRect">
            <a:avLst>
              <a:gd name="adj" fmla="val 6061"/>
            </a:avLst>
          </a:prstGeom>
          <a:solidFill>
            <a:srgbClr val="EAF3F1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64992" y="1874520"/>
            <a:ext cx="64008" cy="1207008"/>
          </a:xfrm>
          <a:prstGeom prst="rect">
            <a:avLst/>
          </a:prstGeom>
          <a:solidFill>
            <a:srgbClr val="5F9590"/>
          </a:solidFill>
          <a:ln w="12700">
            <a:solidFill>
              <a:srgbClr val="5F9590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29584" y="1984248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83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529584" y="2322576"/>
            <a:ext cx="1965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Pydantic validation · rules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71616" y="1874520"/>
            <a:ext cx="2267712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71616" y="1874520"/>
            <a:ext cx="64008" cy="1207008"/>
          </a:xfrm>
          <a:prstGeom prst="rect">
            <a:avLst/>
          </a:prstGeom>
          <a:solidFill>
            <a:srgbClr val="D8794C"/>
          </a:solidFill>
          <a:ln w="12700">
            <a:solidFill>
              <a:srgbClr val="D8794C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36208" y="1984248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83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IN-MEMORY DATA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236208" y="2322576"/>
            <a:ext cx="1965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seeded invoice records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778240" y="1874520"/>
            <a:ext cx="26060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78240" y="1874520"/>
            <a:ext cx="64008" cy="1207008"/>
          </a:xfrm>
          <a:prstGeom prst="rect">
            <a:avLst/>
          </a:prstGeom>
          <a:solidFill>
            <a:srgbClr val="235C47"/>
          </a:solidFill>
          <a:ln w="12700">
            <a:solidFill>
              <a:srgbClr val="235C47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942832" y="1984248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83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ECS FARGATE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942832" y="2322576"/>
            <a:ext cx="23042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 task · static UI + API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962656" y="2468880"/>
            <a:ext cx="310896" cy="0"/>
          </a:xfrm>
          <a:prstGeom prst="line">
            <a:avLst/>
          </a:prstGeom>
          <a:noFill/>
          <a:ln w="20320">
            <a:solidFill>
              <a:srgbClr val="5F959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669280" y="2468880"/>
            <a:ext cx="310896" cy="0"/>
          </a:xfrm>
          <a:prstGeom prst="line">
            <a:avLst/>
          </a:prstGeom>
          <a:noFill/>
          <a:ln w="20320">
            <a:solidFill>
              <a:srgbClr val="5F959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375904" y="2468880"/>
            <a:ext cx="310896" cy="0"/>
          </a:xfrm>
          <a:prstGeom prst="line">
            <a:avLst/>
          </a:prstGeom>
          <a:noFill/>
          <a:ln w="20320">
            <a:solidFill>
              <a:srgbClr val="5F959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41248" y="3794760"/>
            <a:ext cx="105613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115568" y="404164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35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+ OPERATE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2761488" y="3968496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3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→ CodeBuild → ECR → ECS · CloudWatch logs · /healthz health check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115568" y="4425696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persistent database is connected.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EF7B"/>
          </a:solidFill>
          <a:ln w="12700">
            <a:solidFill>
              <a:srgbClr val="C9EF7B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468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35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· APPLICATION 02 · PRODUCT EXPERIENCE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53035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836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compact workspace for invoice triage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104241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selected invoice, contract comparison, and next decision stay together.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6473952"/>
            <a:ext cx="11018520" cy="0"/>
          </a:xfrm>
          <a:prstGeom prst="line">
            <a:avLst/>
          </a:prstGeom>
          <a:noFill/>
          <a:ln w="10160">
            <a:solidFill>
              <a:srgbClr val="DFE5D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AUDITTRAIL AI  ·  CAPSTONE JOURNEY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1101852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35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00" dirty="0"/>
          </a:p>
        </p:txBody>
      </p:sp>
      <p:pic>
        <p:nvPicPr>
          <p:cNvPr id="9" name="Image 0" descr="C:\Users\kittu\audittrail-ai\deliverables\audittrail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664208"/>
            <a:ext cx="7360920" cy="355701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1792" y="1664208"/>
            <a:ext cx="7360920" cy="355701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FE5D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8368" y="5367528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AWS DASHBOARD · CAPTURED OCT 5, 2026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8247888" y="1847088"/>
            <a:ext cx="3182112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458200" y="200253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87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961120" y="1956816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3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961120" y="2240280"/>
            <a:ext cx="2148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Search/filter invoice register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8247888" y="2807208"/>
            <a:ext cx="3182112" cy="749808"/>
          </a:xfrm>
          <a:prstGeom prst="roundRect">
            <a:avLst>
              <a:gd name="adj" fmla="val 9756"/>
            </a:avLst>
          </a:prstGeom>
          <a:solidFill>
            <a:srgbClr val="E8F0E5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458200" y="296265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87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8961120" y="2916936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3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8961120" y="3200400"/>
            <a:ext cx="2148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 items vs. $150/hr cap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247888" y="3767328"/>
            <a:ext cx="3182112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392277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87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8961120" y="3877056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3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961120" y="4160520"/>
            <a:ext cx="2148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· flag · reject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EF7B"/>
          </a:solidFill>
          <a:ln w="12700">
            <a:solidFill>
              <a:srgbClr val="C9EF7B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468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35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· APPLICATION 02 · PHASE 4 · TESTING &amp; SECURITY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53035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836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 the rules at their boundaries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104241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test results from the seeded dataset and API validation.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6473952"/>
            <a:ext cx="11018520" cy="0"/>
          </a:xfrm>
          <a:prstGeom prst="line">
            <a:avLst/>
          </a:prstGeom>
          <a:noFill/>
          <a:ln w="10160">
            <a:solidFill>
              <a:srgbClr val="DFE5D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AUDITTRAIL AI  ·  CAPSTONE JOURNEY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1101852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35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13232" y="1737360"/>
            <a:ext cx="25146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" y="1847088"/>
            <a:ext cx="2221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35C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859536" y="2240280"/>
            <a:ext cx="2221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/api/invoices records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56432" y="1737360"/>
            <a:ext cx="25146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02736" y="1847088"/>
            <a:ext cx="2221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D879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 · 1 · 1</a:t>
            </a:r>
            <a:endParaRPr lang="en-US" sz="2500" dirty="0"/>
          </a:p>
        </p:txBody>
      </p:sp>
      <p:sp>
        <p:nvSpPr>
          <p:cNvPr id="14" name="Text 12"/>
          <p:cNvSpPr txBox="1"/>
          <p:nvPr/>
        </p:nvSpPr>
        <p:spPr>
          <a:xfrm>
            <a:off x="3602736" y="2240280"/>
            <a:ext cx="2221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· Medium · Low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99632" y="1737360"/>
            <a:ext cx="25146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45936" y="1847088"/>
            <a:ext cx="2221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5F959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 / 6</a:t>
            </a:r>
            <a:endParaRPr lang="en-US" sz="2500" dirty="0"/>
          </a:p>
        </p:txBody>
      </p:sp>
      <p:sp>
        <p:nvSpPr>
          <p:cNvPr id="17" name="Text 15"/>
          <p:cNvSpPr txBox="1"/>
          <p:nvPr/>
        </p:nvSpPr>
        <p:spPr>
          <a:xfrm>
            <a:off x="6345936" y="2240280"/>
            <a:ext cx="2221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malformed payloads rejected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942832" y="1737360"/>
            <a:ext cx="25146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89136" y="1847088"/>
            <a:ext cx="2221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6682A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200 / 404 / 422</a:t>
            </a:r>
            <a:endParaRPr lang="en-US" sz="2500" dirty="0"/>
          </a:p>
        </p:txBody>
      </p:sp>
      <p:sp>
        <p:nvSpPr>
          <p:cNvPr id="20" name="Text 18"/>
          <p:cNvSpPr txBox="1"/>
          <p:nvPr/>
        </p:nvSpPr>
        <p:spPr>
          <a:xfrm>
            <a:off x="9089136" y="2240280"/>
            <a:ext cx="2221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 / missing ID / invalid input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49808" y="2926080"/>
            <a:ext cx="504748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05840" y="318211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35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CHECKS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024128" y="3662172"/>
            <a:ext cx="68580" cy="68580"/>
          </a:xfrm>
          <a:prstGeom prst="ellipse">
            <a:avLst/>
          </a:prstGeom>
          <a:solidFill>
            <a:srgbClr val="D8794C"/>
          </a:solidFill>
          <a:ln w="12700">
            <a:solidFill>
              <a:srgbClr val="D8794C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207008" y="356616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6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CORS: only http://localhost:5173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024128" y="4046220"/>
            <a:ext cx="68580" cy="68580"/>
          </a:xfrm>
          <a:prstGeom prst="ellipse">
            <a:avLst/>
          </a:prstGeom>
          <a:solidFill>
            <a:srgbClr val="D8794C"/>
          </a:solidFill>
          <a:ln w="12700">
            <a:solidFill>
              <a:srgbClr val="D8794C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207008" y="3950208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6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Strict status Literal + extra="forbid"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024128" y="4430268"/>
            <a:ext cx="68580" cy="68580"/>
          </a:xfrm>
          <a:prstGeom prst="ellipse">
            <a:avLst/>
          </a:prstGeom>
          <a:solidFill>
            <a:srgbClr val="D8794C"/>
          </a:solidFill>
          <a:ln w="12700">
            <a:solidFill>
              <a:srgbClr val="D8794C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207008" y="4334256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6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secrets / .env / key files found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44768" y="292608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FFF0E8"/>
          </a:solidFill>
          <a:ln w="10160">
            <a:solidFill>
              <a:srgbClr val="F0D6C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19088" y="318211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87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RESPONSIBLE-AI LIMIT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6419088" y="3602736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83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 explain the flags; there is no trained model or confidence score. Auditors retain the decision.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EF7B"/>
          </a:solidFill>
          <a:ln w="12700">
            <a:solidFill>
              <a:srgbClr val="C9EF7B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468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35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· APPLICATION 02 · PHASE 5 · WORKSHOP 6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53035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836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in the cloud, run on Fargate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104241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deployment avoids local Docker and uses a single public task for the demo.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6473952"/>
            <a:ext cx="11018520" cy="0"/>
          </a:xfrm>
          <a:prstGeom prst="line">
            <a:avLst/>
          </a:prstGeom>
          <a:noFill/>
          <a:ln w="10160">
            <a:solidFill>
              <a:srgbClr val="DFE5D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AUDITTRAIL AI  ·  CAPSTONE JOURNEY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1101852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35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58368" y="1874520"/>
            <a:ext cx="2441448" cy="1252728"/>
          </a:xfrm>
          <a:prstGeom prst="roundRect">
            <a:avLst>
              <a:gd name="adj" fmla="val 5839"/>
            </a:avLst>
          </a:prstGeom>
          <a:solidFill>
            <a:srgbClr val="FFFFFF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74520"/>
            <a:ext cx="64008" cy="1252728"/>
          </a:xfrm>
          <a:prstGeom prst="rect">
            <a:avLst/>
          </a:prstGeom>
          <a:solidFill>
            <a:srgbClr val="235C47"/>
          </a:solidFill>
          <a:ln w="12700">
            <a:solidFill>
              <a:srgbClr val="235C47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198424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83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322576"/>
            <a:ext cx="21396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main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45536" y="2487168"/>
            <a:ext cx="310896" cy="0"/>
          </a:xfrm>
          <a:prstGeom prst="line">
            <a:avLst/>
          </a:prstGeom>
          <a:noFill/>
          <a:ln w="20320">
            <a:solidFill>
              <a:srgbClr val="5F959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557016" y="1874520"/>
            <a:ext cx="2441448" cy="1252728"/>
          </a:xfrm>
          <a:prstGeom prst="roundRect">
            <a:avLst>
              <a:gd name="adj" fmla="val 5839"/>
            </a:avLst>
          </a:prstGeom>
          <a:solidFill>
            <a:srgbClr val="FFFFFF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57016" y="1874520"/>
            <a:ext cx="64008" cy="1252728"/>
          </a:xfrm>
          <a:prstGeom prst="rect">
            <a:avLst/>
          </a:prstGeom>
          <a:solidFill>
            <a:srgbClr val="235C47"/>
          </a:solidFill>
          <a:ln w="12700">
            <a:solidFill>
              <a:srgbClr val="235C47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721608" y="198424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83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CODEBUILD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721608" y="2322576"/>
            <a:ext cx="21396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build · buildspec.yml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44184" y="2487168"/>
            <a:ext cx="310896" cy="0"/>
          </a:xfrm>
          <a:prstGeom prst="line">
            <a:avLst/>
          </a:prstGeom>
          <a:noFill/>
          <a:ln w="20320">
            <a:solidFill>
              <a:srgbClr val="5F959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455664" y="1874520"/>
            <a:ext cx="2441448" cy="1252728"/>
          </a:xfrm>
          <a:prstGeom prst="roundRect">
            <a:avLst>
              <a:gd name="adj" fmla="val 5839"/>
            </a:avLst>
          </a:prstGeom>
          <a:solidFill>
            <a:srgbClr val="FFFFFF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55664" y="1874520"/>
            <a:ext cx="64008" cy="1252728"/>
          </a:xfrm>
          <a:prstGeom prst="rect">
            <a:avLst/>
          </a:prstGeom>
          <a:solidFill>
            <a:srgbClr val="D8794C"/>
          </a:solidFill>
          <a:ln w="12700">
            <a:solidFill>
              <a:srgbClr val="D8794C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20256" y="198424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83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ECR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620256" y="2322576"/>
            <a:ext cx="21396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audittrail-ai · scan on push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942832" y="2487168"/>
            <a:ext cx="310896" cy="0"/>
          </a:xfrm>
          <a:prstGeom prst="line">
            <a:avLst/>
          </a:prstGeom>
          <a:noFill/>
          <a:ln w="20320">
            <a:solidFill>
              <a:srgbClr val="5F959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354312" y="1874520"/>
            <a:ext cx="2441448" cy="1252728"/>
          </a:xfrm>
          <a:prstGeom prst="roundRect">
            <a:avLst>
              <a:gd name="adj" fmla="val 5839"/>
            </a:avLst>
          </a:prstGeom>
          <a:solidFill>
            <a:srgbClr val="E8F0E5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54312" y="1874520"/>
            <a:ext cx="64008" cy="1252728"/>
          </a:xfrm>
          <a:prstGeom prst="rect">
            <a:avLst/>
          </a:prstGeom>
          <a:solidFill>
            <a:srgbClr val="235C47"/>
          </a:solidFill>
          <a:ln w="12700">
            <a:solidFill>
              <a:srgbClr val="235C47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518904" y="198424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83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ECS / FARGATE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9518904" y="2322576"/>
            <a:ext cx="21396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task · 256 CPU / 512 MiB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49808" y="3776472"/>
            <a:ext cx="6629400" cy="1078992"/>
          </a:xfrm>
          <a:prstGeom prst="roundRect">
            <a:avLst>
              <a:gd name="adj" fmla="val 6780"/>
            </a:avLst>
          </a:prstGeom>
          <a:solidFill>
            <a:srgbClr val="18362C"/>
          </a:solidFill>
          <a:ln w="10160">
            <a:solidFill>
              <a:srgbClr val="18362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24128" y="402336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9EF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URL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2084832" y="3950208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http://54.82.56.190:8000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7726680" y="3776472"/>
            <a:ext cx="3520440" cy="1078992"/>
          </a:xfrm>
          <a:prstGeom prst="roundRect">
            <a:avLst>
              <a:gd name="adj" fmla="val 6780"/>
            </a:avLst>
          </a:prstGeom>
          <a:solidFill>
            <a:srgbClr val="FFF0E8"/>
          </a:solidFill>
          <a:ln w="10160">
            <a:solidFill>
              <a:srgbClr val="F0D6C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991856" y="400507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87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LEARNING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7991856" y="43159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83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unsupported CODEBUILD_ENV_FILE; rebuilt via buildspec override.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EF7B"/>
          </a:solidFill>
          <a:ln w="12700">
            <a:solidFill>
              <a:srgbClr val="C9EF7B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468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35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· APPLICATION 02 · PHASE 6 · SHOWCASE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53035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836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Demo-ready is not production-ready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104241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showcase to explain current value and the next safe step.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6473952"/>
            <a:ext cx="11018520" cy="0"/>
          </a:xfrm>
          <a:prstGeom prst="line">
            <a:avLst/>
          </a:prstGeom>
          <a:noFill/>
          <a:ln w="10160">
            <a:solidFill>
              <a:srgbClr val="DFE5D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AUDITTRAIL AI  ·  CAPSTONE JOURNEY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1101852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35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49808" y="1737360"/>
            <a:ext cx="4956048" cy="3474720"/>
          </a:xfrm>
          <a:prstGeom prst="roundRect">
            <a:avLst>
              <a:gd name="adj" fmla="val 2105"/>
            </a:avLst>
          </a:prstGeom>
          <a:solidFill>
            <a:srgbClr val="E8F0E5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24128" y="20116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35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TODAY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033272" y="2528316"/>
            <a:ext cx="68580" cy="68580"/>
          </a:xfrm>
          <a:prstGeom prst="ellipse">
            <a:avLst/>
          </a:prstGeom>
          <a:solidFill>
            <a:srgbClr val="D8794C"/>
          </a:solidFill>
          <a:ln w="12700">
            <a:solidFill>
              <a:srgbClr val="D8794C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16152" y="2432304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6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Rule-based rate and duplicate flags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33272" y="3040380"/>
            <a:ext cx="68580" cy="68580"/>
          </a:xfrm>
          <a:prstGeom prst="ellipse">
            <a:avLst/>
          </a:prstGeom>
          <a:solidFill>
            <a:srgbClr val="D8794C"/>
          </a:solidFill>
          <a:ln w="12700">
            <a:solidFill>
              <a:srgbClr val="D8794C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16152" y="2944368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6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Search, filters, CSV, alerts, review actions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33272" y="3552444"/>
            <a:ext cx="68580" cy="68580"/>
          </a:xfrm>
          <a:prstGeom prst="ellipse">
            <a:avLst/>
          </a:prstGeom>
          <a:solidFill>
            <a:srgbClr val="D8794C"/>
          </a:solidFill>
          <a:ln w="12700">
            <a:solidFill>
              <a:srgbClr val="D8794C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216152" y="3456432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6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dashboard + API health endpoint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33272" y="4064508"/>
            <a:ext cx="68580" cy="68580"/>
          </a:xfrm>
          <a:prstGeom prst="ellipse">
            <a:avLst/>
          </a:prstGeom>
          <a:solidFill>
            <a:srgbClr val="D8794C"/>
          </a:solidFill>
          <a:ln w="12700">
            <a:solidFill>
              <a:srgbClr val="D8794C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216152" y="3968496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6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Keyboard focus and Escape behavior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44768" y="1737360"/>
            <a:ext cx="4956048" cy="3474720"/>
          </a:xfrm>
          <a:prstGeom prst="roundRect">
            <a:avLst>
              <a:gd name="adj" fmla="val 2105"/>
            </a:avLst>
          </a:prstGeom>
          <a:solidFill>
            <a:srgbClr val="FFF0E8"/>
          </a:solidFill>
          <a:ln w="10160">
            <a:solidFill>
              <a:srgbClr val="F0D6C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19088" y="20116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87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LIMITATIONS TO DISCLOSE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428232" y="2528316"/>
            <a:ext cx="68580" cy="68580"/>
          </a:xfrm>
          <a:prstGeom prst="ellipse">
            <a:avLst/>
          </a:prstGeom>
          <a:solidFill>
            <a:srgbClr val="D8794C"/>
          </a:solidFill>
          <a:ln w="12700">
            <a:solidFill>
              <a:srgbClr val="D8794C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11112" y="2432304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6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HTTP; no authentication / TLS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28232" y="3040380"/>
            <a:ext cx="68580" cy="68580"/>
          </a:xfrm>
          <a:prstGeom prst="ellipse">
            <a:avLst/>
          </a:prstGeom>
          <a:solidFill>
            <a:srgbClr val="D8794C"/>
          </a:solidFill>
          <a:ln w="12700">
            <a:solidFill>
              <a:srgbClr val="D8794C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11112" y="2944368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6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In-memory data resets on task restart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28232" y="3552444"/>
            <a:ext cx="68580" cy="68580"/>
          </a:xfrm>
          <a:prstGeom prst="ellipse">
            <a:avLst/>
          </a:prstGeom>
          <a:solidFill>
            <a:srgbClr val="D8794C"/>
          </a:solidFill>
          <a:ln w="12700">
            <a:solidFill>
              <a:srgbClr val="D8794C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11112" y="3456432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6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 task; no load balancer or autoscaling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28232" y="4064508"/>
            <a:ext cx="68580" cy="68580"/>
          </a:xfrm>
          <a:prstGeom prst="ellipse">
            <a:avLst/>
          </a:prstGeom>
          <a:solidFill>
            <a:srgbClr val="D8794C"/>
          </a:solidFill>
          <a:ln w="12700">
            <a:solidFill>
              <a:srgbClr val="D8794C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11112" y="3968496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6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external user feedback documented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59536" y="5486400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83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 status: [Add real auditor/classmate feedback and resulting iteration.]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EF7B"/>
          </a:solidFill>
          <a:ln w="12700">
            <a:solidFill>
              <a:srgbClr val="C9EF7B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468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35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· AI ROLE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53035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836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Prompts that produced useful engineering work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104241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Specific behavior, constraints, and verification criteria improved the results.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6473952"/>
            <a:ext cx="11018520" cy="0"/>
          </a:xfrm>
          <a:prstGeom prst="line">
            <a:avLst/>
          </a:prstGeom>
          <a:noFill/>
          <a:ln w="10160">
            <a:solidFill>
              <a:srgbClr val="DFE5D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AUDITTRAIL AI  ·  CAPSTONE JOURNEY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1101852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35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49808" y="1719072"/>
            <a:ext cx="106070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" y="1883664"/>
            <a:ext cx="987552" cy="246888"/>
          </a:xfrm>
          <a:prstGeom prst="roundRect">
            <a:avLst>
              <a:gd name="adj" fmla="val 29630"/>
            </a:avLst>
          </a:prstGeom>
          <a:solidFill>
            <a:srgbClr val="E8F0E5"/>
          </a:solidFill>
          <a:ln w="12700">
            <a:solidFill>
              <a:srgbClr val="E8F0E5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42416" y="1906524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35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2148840" y="1856232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3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“Seed four invoices with one clean, two rate violations, and one duplicate.”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148840" y="2258568"/>
            <a:ext cx="8732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Outcome: deterministic rule cases with testable expected counts.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49808" y="2999232"/>
            <a:ext cx="106070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3163824"/>
            <a:ext cx="987552" cy="246888"/>
          </a:xfrm>
          <a:prstGeom prst="roundRect">
            <a:avLst>
              <a:gd name="adj" fmla="val 29630"/>
            </a:avLst>
          </a:prstGeom>
          <a:solidFill>
            <a:srgbClr val="FFF0E8"/>
          </a:solidFill>
          <a:ln w="12700">
            <a:solidFill>
              <a:srgbClr val="FFF0E8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2416" y="3186684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D87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HARDEN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2148840" y="3136392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3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“Reject malformed review payloads; verify exact CORS behavior.”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148840" y="3538728"/>
            <a:ext cx="8732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Outcome: strict Pydantic model; extra fields rejected with 422.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9808" y="4279392"/>
            <a:ext cx="106070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9264" y="4443984"/>
            <a:ext cx="987552" cy="246888"/>
          </a:xfrm>
          <a:prstGeom prst="roundRect">
            <a:avLst>
              <a:gd name="adj" fmla="val 29630"/>
            </a:avLst>
          </a:prstGeom>
          <a:solidFill>
            <a:srgbClr val="E8F0E5"/>
          </a:solidFill>
          <a:ln w="12700">
            <a:solidFill>
              <a:srgbClr val="E8F0E5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42416" y="4466844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35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2148840" y="4416552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3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“Build in CodeBuild, push to ECR, deploy on Fargate; verify health.”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2148840" y="4818888"/>
            <a:ext cx="8732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Outcome: cloud build and a checked live service.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68680" y="574243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35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Tools: Copilot · Pylance/runtime checks · browser interaction tests · AWS CLI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EF7B"/>
          </a:solidFill>
          <a:ln w="12700">
            <a:solidFill>
              <a:srgbClr val="C9EF7B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468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35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· AI ROLE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53035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836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process improved when verification became part of the prompt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104241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describing what to build to defining how to prove it works.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6473952"/>
            <a:ext cx="11018520" cy="0"/>
          </a:xfrm>
          <a:prstGeom prst="line">
            <a:avLst/>
          </a:prstGeom>
          <a:noFill/>
          <a:ln w="10160">
            <a:solidFill>
              <a:srgbClr val="DFE5D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AUDITTRAIL AI  ·  CAPSTONE JOURNEY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1101852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35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49808" y="1783080"/>
            <a:ext cx="4983480" cy="3456432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2057400"/>
            <a:ext cx="2240280" cy="246888"/>
          </a:xfrm>
          <a:prstGeom prst="roundRect">
            <a:avLst>
              <a:gd name="adj" fmla="val 29630"/>
            </a:avLst>
          </a:prstGeom>
          <a:solidFill>
            <a:srgbClr val="FFF0E8"/>
          </a:solidFill>
          <a:ln w="12700">
            <a:solidFill>
              <a:srgbClr val="FFF0E8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78992" y="2080260"/>
            <a:ext cx="20939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D87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01 · WORKSHOPS 1–4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54203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83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[Add your actual evolution]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1024128" y="3314700"/>
            <a:ext cx="68580" cy="68580"/>
          </a:xfrm>
          <a:prstGeom prst="ellipse">
            <a:avLst/>
          </a:prstGeom>
          <a:solidFill>
            <a:srgbClr val="D8794C"/>
          </a:solidFill>
          <a:ln w="12700">
            <a:solidFill>
              <a:srgbClr val="D8794C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07008" y="321868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6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/ prototype approach: [ ]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24128" y="3790188"/>
            <a:ext cx="68580" cy="68580"/>
          </a:xfrm>
          <a:prstGeom prst="ellipse">
            <a:avLst/>
          </a:prstGeom>
          <a:solidFill>
            <a:srgbClr val="D8794C"/>
          </a:solidFill>
          <a:ln w="12700">
            <a:solidFill>
              <a:srgbClr val="D8794C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207008" y="3694176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6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 and feedback loop: [ ]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24128" y="4265676"/>
            <a:ext cx="68580" cy="68580"/>
          </a:xfrm>
          <a:prstGeom prst="ellipse">
            <a:avLst/>
          </a:prstGeom>
          <a:solidFill>
            <a:srgbClr val="D8794C"/>
          </a:solidFill>
          <a:ln w="12700">
            <a:solidFill>
              <a:srgbClr val="D8794C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207008" y="4169664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6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changed by Workshop 4: [ ]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14600" y="4663440"/>
            <a:ext cx="2240280" cy="246888"/>
          </a:xfrm>
          <a:prstGeom prst="roundRect">
            <a:avLst>
              <a:gd name="adj" fmla="val 29630"/>
            </a:avLst>
          </a:prstGeom>
          <a:solidFill>
            <a:srgbClr val="FFF0E8"/>
          </a:solidFill>
          <a:ln w="12700">
            <a:solidFill>
              <a:srgbClr val="FFF0E8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587752" y="4686300"/>
            <a:ext cx="20939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D87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#1 SOURCE NEEDED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144768" y="1783080"/>
            <a:ext cx="4983480" cy="3456432"/>
          </a:xfrm>
          <a:prstGeom prst="roundRect">
            <a:avLst>
              <a:gd name="adj" fmla="val 2116"/>
            </a:avLst>
          </a:prstGeom>
          <a:solidFill>
            <a:srgbClr val="18362C"/>
          </a:solidFill>
          <a:ln w="10160">
            <a:solidFill>
              <a:srgbClr val="18362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2057400"/>
            <a:ext cx="2240280" cy="246888"/>
          </a:xfrm>
          <a:prstGeom prst="roundRect">
            <a:avLst>
              <a:gd name="adj" fmla="val 29630"/>
            </a:avLst>
          </a:prstGeom>
          <a:solidFill>
            <a:srgbClr val="315B49"/>
          </a:solidFill>
          <a:ln w="12700">
            <a:solidFill>
              <a:srgbClr val="315B49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73952" y="2080260"/>
            <a:ext cx="20939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9EF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02 · WORKSHOPS 5–6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2542032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Specify outcomes; test boundaries.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6419088" y="3406140"/>
            <a:ext cx="68580" cy="68580"/>
          </a:xfrm>
          <a:prstGeom prst="ellipse">
            <a:avLst/>
          </a:prstGeom>
          <a:solidFill>
            <a:srgbClr val="C9EF7B"/>
          </a:solidFill>
          <a:ln w="12700">
            <a:solidFill>
              <a:srgbClr val="C9EF7B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01968" y="3310128"/>
            <a:ext cx="4005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CE8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seed/risk counts were explicit.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19088" y="3863340"/>
            <a:ext cx="68580" cy="68580"/>
          </a:xfrm>
          <a:prstGeom prst="ellipse">
            <a:avLst/>
          </a:prstGeom>
          <a:solidFill>
            <a:srgbClr val="C9EF7B"/>
          </a:solidFill>
          <a:ln w="12700">
            <a:solidFill>
              <a:srgbClr val="C9EF7B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01968" y="3767328"/>
            <a:ext cx="4005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CE8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Negative payloads and CORS were tested.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19088" y="4320540"/>
            <a:ext cx="68580" cy="68580"/>
          </a:xfrm>
          <a:prstGeom prst="ellipse">
            <a:avLst/>
          </a:prstGeom>
          <a:solidFill>
            <a:srgbClr val="C9EF7B"/>
          </a:solidFill>
          <a:ln w="12700">
            <a:solidFill>
              <a:srgbClr val="C9EF7B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01968" y="4224528"/>
            <a:ext cx="4005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CE8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failures informed a revised buildspec.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EF7B"/>
          </a:solidFill>
          <a:ln w="12700">
            <a:solidFill>
              <a:srgbClr val="C9EF7B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468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35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· VALUE ADD &amp; IMPACT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53035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836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Potential value: less repetitive checking, clearer decisions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104241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ROI is a hypothesis until time and error-rate baselines are measured.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6473952"/>
            <a:ext cx="11018520" cy="0"/>
          </a:xfrm>
          <a:prstGeom prst="line">
            <a:avLst/>
          </a:prstGeom>
          <a:noFill/>
          <a:ln w="10160">
            <a:solidFill>
              <a:srgbClr val="DFE5D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AUDITTRAIL AI  ·  CAPSTONE JOURNEY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1101852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35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49808" y="1737360"/>
            <a:ext cx="49834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2011680"/>
            <a:ext cx="914400" cy="246888"/>
          </a:xfrm>
          <a:prstGeom prst="roundRect">
            <a:avLst>
              <a:gd name="adj" fmla="val 29630"/>
            </a:avLst>
          </a:prstGeom>
          <a:solidFill>
            <a:srgbClr val="FFF0E8"/>
          </a:solidFill>
          <a:ln w="12700">
            <a:solidFill>
              <a:srgbClr val="FFF0E8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78992" y="2034540"/>
            <a:ext cx="7680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D87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01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4688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83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[Value proposition]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1024128" y="3186684"/>
            <a:ext cx="68580" cy="68580"/>
          </a:xfrm>
          <a:prstGeom prst="ellipse">
            <a:avLst/>
          </a:prstGeom>
          <a:solidFill>
            <a:srgbClr val="D8794C"/>
          </a:solidFill>
          <a:ln w="12700">
            <a:solidFill>
              <a:srgbClr val="D8794C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07008" y="3090672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6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workflow: [ ]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24128" y="3625596"/>
            <a:ext cx="68580" cy="68580"/>
          </a:xfrm>
          <a:prstGeom prst="ellipse">
            <a:avLst/>
          </a:prstGeom>
          <a:solidFill>
            <a:srgbClr val="D8794C"/>
          </a:solidFill>
          <a:ln w="12700">
            <a:solidFill>
              <a:srgbClr val="D8794C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207008" y="3529584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6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baseline: [time / errors]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24128" y="4064508"/>
            <a:ext cx="68580" cy="68580"/>
          </a:xfrm>
          <a:prstGeom prst="ellipse">
            <a:avLst/>
          </a:prstGeom>
          <a:solidFill>
            <a:srgbClr val="D8794C"/>
          </a:solidFill>
          <a:ln w="12700">
            <a:solidFill>
              <a:srgbClr val="D8794C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207008" y="3968496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6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Improvement measured: [ ]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44768" y="1737360"/>
            <a:ext cx="4983480" cy="3246120"/>
          </a:xfrm>
          <a:prstGeom prst="roundRect">
            <a:avLst>
              <a:gd name="adj" fmla="val 2254"/>
            </a:avLst>
          </a:prstGeom>
          <a:solidFill>
            <a:srgbClr val="E8F0E5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2011680"/>
            <a:ext cx="914400" cy="246888"/>
          </a:xfrm>
          <a:prstGeom prst="roundRect">
            <a:avLst>
              <a:gd name="adj" fmla="val 29630"/>
            </a:avLst>
          </a:prstGeom>
          <a:solidFill>
            <a:srgbClr val="E8F0E5"/>
          </a:solidFill>
          <a:ln w="12700">
            <a:solidFill>
              <a:srgbClr val="E8F0E5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73952" y="2034540"/>
            <a:ext cx="7680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35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02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2468880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83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anomalies visible early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6419088" y="3186684"/>
            <a:ext cx="68580" cy="68580"/>
          </a:xfrm>
          <a:prstGeom prst="ellipse">
            <a:avLst/>
          </a:prstGeom>
          <a:solidFill>
            <a:srgbClr val="235C47"/>
          </a:solidFill>
          <a:ln w="12700">
            <a:solidFill>
              <a:srgbClr val="235C47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01968" y="3090672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6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Rule-based checks are consistent.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19088" y="3625596"/>
            <a:ext cx="68580" cy="68580"/>
          </a:xfrm>
          <a:prstGeom prst="ellipse">
            <a:avLst/>
          </a:prstGeom>
          <a:solidFill>
            <a:srgbClr val="235C47"/>
          </a:solidFill>
          <a:ln w="12700">
            <a:solidFill>
              <a:srgbClr val="235C47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01968" y="3529584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6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Explanations support audit follow-up.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19088" y="4064508"/>
            <a:ext cx="68580" cy="68580"/>
          </a:xfrm>
          <a:prstGeom prst="ellipse">
            <a:avLst/>
          </a:prstGeom>
          <a:solidFill>
            <a:srgbClr val="235C47"/>
          </a:solidFill>
          <a:ln w="12700">
            <a:solidFill>
              <a:srgbClr val="235C47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01968" y="3968496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6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retains final disposition.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4672" y="5285232"/>
            <a:ext cx="10287000" cy="713232"/>
          </a:xfrm>
          <a:prstGeom prst="roundRect">
            <a:avLst>
              <a:gd name="adj" fmla="val 10256"/>
            </a:avLst>
          </a:prstGeom>
          <a:solidFill>
            <a:srgbClr val="18362C"/>
          </a:solidFill>
          <a:ln w="10160">
            <a:solidFill>
              <a:srgbClr val="18362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51560" y="5504688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only: 100 invoices × 5 min saved × $45/hr = $375 monthly capacity · not measured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EF7B"/>
          </a:solidFill>
          <a:ln w="12700">
            <a:solidFill>
              <a:srgbClr val="C9EF7B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468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35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· CAPSTONE MILESTONE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53035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836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Celebrate the work—and verify the evidence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104241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 each item complete only when it is true for your submission.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6473952"/>
            <a:ext cx="11018520" cy="0"/>
          </a:xfrm>
          <a:prstGeom prst="line">
            <a:avLst/>
          </a:prstGeom>
          <a:noFill/>
          <a:ln w="10160">
            <a:solidFill>
              <a:srgbClr val="DFE5D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AUDITTRAIL AI  ·  CAPSTONE JOURNEY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1101852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35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49808" y="1719072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" y="1901952"/>
            <a:ext cx="210312" cy="210312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235C4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80160" y="1810512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83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two complete applications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93976"/>
            <a:ext cx="4251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#1 details needed to document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49808" y="2596896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2688" y="2779776"/>
            <a:ext cx="210312" cy="210312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8794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280160" y="2688336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83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Deployed both applications to AWS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971800"/>
            <a:ext cx="4251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#2 verified · App #1 URL needed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49808" y="3474720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2688" y="3657600"/>
            <a:ext cx="210312" cy="210312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235C4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280160" y="3566160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83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Implemented user feedback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3849624"/>
            <a:ext cx="4251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the actual feedback + iteration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49808" y="4352544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" y="4535424"/>
            <a:ext cx="210312" cy="210312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235C4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280160" y="4443984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83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Created comprehensive documentation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4727448"/>
            <a:ext cx="4251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+ reflection draft created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36208" y="1719072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19088" y="1901952"/>
            <a:ext cx="210312" cy="210312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235C4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66560" y="1810512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83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Developed AI partnership skills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766560" y="2093976"/>
            <a:ext cx="4251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iterative prompting + tests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236208" y="2596896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19088" y="2779776"/>
            <a:ext cx="210312" cy="210312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235C4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766560" y="2688336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83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Grown as a developer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766560" y="2971800"/>
            <a:ext cx="4251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 reflection: add your example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236208" y="3474720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19088" y="3657600"/>
            <a:ext cx="210312" cy="210312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235C4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766560" y="3566160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83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Served others through technology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6766560" y="3849624"/>
            <a:ext cx="4251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target-user or feedback evidence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236208" y="4352544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DFE5D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19088" y="4535424"/>
            <a:ext cx="210312" cy="210312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235C47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766560" y="4443984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83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the capstone course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6766560" y="4727448"/>
            <a:ext cx="4251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course completion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841248" y="5513832"/>
            <a:ext cx="10149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88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a celebration and an evidence checklist—not a claim that every item was independently verified.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836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EF7B"/>
          </a:solidFill>
          <a:ln w="12700">
            <a:solidFill>
              <a:srgbClr val="C9EF7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566928"/>
            <a:ext cx="1572768" cy="246888"/>
          </a:xfrm>
          <a:prstGeom prst="roundRect">
            <a:avLst>
              <a:gd name="adj" fmla="val 29630"/>
            </a:avLst>
          </a:prstGeom>
          <a:solidFill>
            <a:srgbClr val="315B49"/>
          </a:solidFill>
          <a:ln w="12700">
            <a:solidFill>
              <a:srgbClr val="315B49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04672" y="589788"/>
            <a:ext cx="14264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9EF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· CONCLUSION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Build. Verify. Learn.</a:t>
            </a:r>
            <a:endParaRPr lang="en-US" sz="350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2057400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2E0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persist data · add identity · protect the public endpoint · learn from real auditors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8096" y="2944368"/>
            <a:ext cx="4754880" cy="1143000"/>
          </a:xfrm>
          <a:prstGeom prst="roundRect">
            <a:avLst>
              <a:gd name="adj" fmla="val 6400"/>
            </a:avLst>
          </a:prstGeom>
          <a:solidFill>
            <a:srgbClr val="214638"/>
          </a:solidFill>
          <a:ln w="10160">
            <a:solidFill>
              <a:srgbClr val="456A5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32004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DD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01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56616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[App #1 name] · [ADD VERIFIED APP RUNNER URL]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79592" y="2944368"/>
            <a:ext cx="4754880" cy="1143000"/>
          </a:xfrm>
          <a:prstGeom prst="roundRect">
            <a:avLst>
              <a:gd name="adj" fmla="val 6400"/>
            </a:avLst>
          </a:prstGeom>
          <a:solidFill>
            <a:srgbClr val="214638"/>
          </a:solidFill>
          <a:ln w="10160">
            <a:solidFill>
              <a:srgbClr val="456A5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63056" y="32004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DD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02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6163056" y="356616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EF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AuditTrail AI · http://54.82.56.190:8000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" y="4700016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3CD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warning: App #2 is public HTTP, unauthenticated, and backed by in-memory demo data.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523036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8CB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App #1 placeholders and personalize the reflection before submission.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0716768" y="6217920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AABD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 / 23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Capstone 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Two Applications, Six Workshops</dc:title>
  <dc:subject>Capstone journey through Workshops 1–6</dc:subject>
  <dc:creator>[Your name]</dc:creator>
  <cp:lastModifiedBy>[Your name]</cp:lastModifiedBy>
  <cp:revision>1</cp:revision>
  <dcterms:created xsi:type="dcterms:W3CDTF">2026-10-05T22:12:45Z</dcterms:created>
  <dcterms:modified xsi:type="dcterms:W3CDTF">2026-10-05T22:12:45Z</dcterms:modified>
</cp:coreProperties>
</file>